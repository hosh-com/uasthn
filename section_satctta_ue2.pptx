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برش‌های مقاله (حرارتی)</c:v>
                </c:pt>
              </c:strCache>
            </c:strRef>
          </c:tx>
          <c:spPr>
            <a:solidFill>
              <a:srgbClr val="8FA8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4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Rand-5</c:v>
                  </c:pt>
                  <c:pt idx="1">
                    <c:v>Plus-5</c:v>
                  </c:pt>
                  <c:pt idx="2">
                    <c:v>Cross-5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87.82</c:v>
                </c:pt>
                <c:pt idx="1">
                  <c:v>88.1</c:v>
                </c:pt>
                <c:pt idx="2">
                  <c:v>87.93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SatCTTA با حذف پرت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4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Rand-5</c:v>
                  </c:pt>
                  <c:pt idx="1">
                    <c:v>Plus-5</c:v>
                  </c:pt>
                  <c:pt idx="2">
                    <c:v>Cross-5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89.67</c:v>
                </c:pt>
                <c:pt idx="1">
                  <c:v>90.24</c:v>
                </c:pt>
                <c:pt idx="2">
                  <c:v>90.24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5242E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B76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6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5242E"/>
              </a:solidFill>
              <a:latin typeface="Tahoma"/>
              <a:cs typeface="Tahoma"/>
            </a:defRPr>
          </a:pPr>
          <a:endParaRPr lang="en-US"/>
        </a:p>
      </c:txPr>
    </c:legend>
    <c:plotVisOnly val="1"/>
    <c:dispBlanksAs val="span"/>
  </c:chart>
  <c:spPr>
    <a:solidFill>
      <a:srgbClr val="F6F8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بدون حذف</c:v>
                </c:pt>
              </c:strCache>
            </c:strRef>
          </c:tx>
          <c:spPr>
            <a:solidFill>
              <a:srgbClr val="8FA8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24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Plus-5</c:v>
                  </c:pt>
                  <c:pt idx="1">
                    <c:v>Cross-5</c:v>
                  </c:pt>
                  <c:pt idx="2">
                    <c:v>Rand-5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84.3</c:v>
                </c:pt>
                <c:pt idx="1">
                  <c:v>81.7</c:v>
                </c:pt>
                <c:pt idx="2">
                  <c:v>85.5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حذف ۱ پرت</c:v>
                </c:pt>
              </c:strCache>
            </c:strRef>
          </c:tx>
          <c:spPr>
            <a:solidFill>
              <a:srgbClr val="3D8C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24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Plus-5</c:v>
                  </c:pt>
                  <c:pt idx="1">
                    <c:v>Cross-5</c:v>
                  </c:pt>
                  <c:pt idx="2">
                    <c:v>Rand-5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90.1</c:v>
                </c:pt>
                <c:pt idx="1">
                  <c:v>88.7</c:v>
                </c:pt>
                <c:pt idx="2">
                  <c:v>89.7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حذف ۲ پرت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24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Plus-5</c:v>
                  </c:pt>
                  <c:pt idx="1">
                    <c:v>Cross-5</c:v>
                  </c:pt>
                  <c:pt idx="2">
                    <c:v>Rand-5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90.2</c:v>
                </c:pt>
                <c:pt idx="1">
                  <c:v>90.2</c:v>
                </c:pt>
                <c:pt idx="2">
                  <c:v>89.2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5242E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B76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6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5242E"/>
              </a:solidFill>
              <a:latin typeface="Tahoma"/>
              <a:cs typeface="Tahoma"/>
            </a:defRPr>
          </a:pPr>
          <a:endParaRPr lang="en-US"/>
        </a:p>
      </c:txPr>
    </c:legend>
    <c:plotVisOnly val="1"/>
    <c:dispBlanksAs val="span"/>
  </c:chart>
  <c:spPr>
    <a:solidFill>
      <a:srgbClr val="F6F8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ue مرحله اول</c:v>
                </c:pt>
              </c:strCache>
            </c:strRef>
          </c:tx>
          <c:spPr>
            <a:solidFill>
              <a:srgbClr val="8FA8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4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Plus + 4cross</c:v>
                  </c:pt>
                  <c:pt idx="1">
                    <c:v>Rand + 4rand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35.2</c:v>
                </c:pt>
                <c:pt idx="1">
                  <c:v>48.5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ue2 با حذف ۲ پرت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4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Plus + 4cross</c:v>
                  </c:pt>
                  <c:pt idx="1">
                    <c:v>Rand + 4rand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64.8</c:v>
                </c:pt>
                <c:pt idx="1">
                  <c:v>64.1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5242E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C6B76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6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5242E"/>
              </a:solidFill>
              <a:latin typeface="Tahoma"/>
              <a:cs typeface="Tahoma"/>
            </a:defRPr>
          </a:pPr>
          <a:endParaRPr lang="en-US"/>
        </a:p>
      </c:txPr>
    </c:legend>
    <c:plotVisOnly val="1"/>
    <c:dispBlanksAs val="span"/>
  </c:chart>
  <c:spPr>
    <a:solidFill>
      <a:srgbClr val="F6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سلام. در این بخش دو سرفصل را ارائه می‌کنم: اول SatCTTA یعنی برش‌ها از تصویر ماهواره‌ای و انواع جدید برش؛ دوم عدم قطعیت دوآستانه‌ای و دو بهبود اصلی: حذف نمونه‌های پرت با LOO و بهبود باند عدم قطعیت. همه نتایج روی Heydar-1746 با ۱۷۸۲ نمونه و متریک WACC@7 گزارش شده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کلیدواژه‌ها: برش از ماهواره، برش مرکزی، چهار برش جابه‌جاشده، نیمه‌تصادفی. بگویید: به‌جای روش مقاله که برش را از سمت حرارتی می‌زد، ما پنجره‌ی ۱۵۳۶ را داخل قاب بزرگ‌تر ۱۷۴۶ِ ماهواره جابه‌جا می‌کنیم. برش مرکزی ثابت است و چهار برش دیگر با فاصله‌ی تصادفی بین ۳۰ تا ۱۰۵ پیکسل در چهار جهت اصلی نمونه‌گیری می‌شوند. پراکندگی همین برش‌ها مبنای عدم قطعیت مرحله اول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سه گام: اول برای هر یک از ۸ مختصه (۴ گوشه در x و y) میانگین روی K برش گرفته می‌شود؛ دوم انحراف‌معیار نمونه‌ای همان مختصه محاسبه می‌شود؛ سوم میانگین این ۸ انحراف‌معیار همان عدم قطعیت ue است. در کد دقیقاً torch.std روی بعد برش‌ها و سپس میانگین است. توسعه‌ها: LOO دورترین مرکز را حذف و برای n پرت تکرار می‌کند و انحراف‌معیار فقط روی نمونه‌های باقی‌مانده گرفته می‌شود؛ ue2 همان فرمول را روی استخر ترکیبی برش‌های اول باقی‌مانده و M برش دوم اعمال می‌کند. واحدها در مقیاس مدل ۲۵۶ هستند و برای پیکسل تصویر اصلی در ۶ ضرب می‌شوند.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برای هر الگو بگویید: plus چهار جهت اصلی را می‌پوشاند، cross چهار گوشه قطری را، random کاملاً یکنواخت و بدون تکرار است و سوگیری جهت ندارد، plus_cross حالت ترکیبی است که با پنج برش عملاً همان plus را می‌دهد، و grid چیدمان منظم شبکه‌ای است. نکته مهم: همه‌ی این الگوها با seed ثابت تکرارپذیرند و جای برش‌ها هرگز با هم و با برش مرکزی یکسان نمی‌شود.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پیام اصلی اسلاید: برش ماهواره‌ای به‌تنهایی هم‌سطح برش‌های مقاله است، و با حذف نمونه پرت از آن عبور می‌کنیم. اعداد مقاله: تصادفی ۸۷٫۸، پلاس ۸۸٫۱، ضربدری ۸۷٫۹. ما: ۸۹٫۷ تا ۹۰٫۲. اگر پرسیدند چرا بدون حذف پرت کمتر از مقاله است: قاب ۱۷۴۶ شامل کاشی‌های سخت‌تر لبه‌ها هم هست؛ مقایسه‌ی منصفانه در قاب هر روش انجام شده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منطق: اگر ue کمتر از آستانه پایین TL باشد می‌پذیریم، اگر بیشتر از TH باشد رد می‌کنیم، و اگر داخل باند باشد مشکوک است — همان‌جا برش‌های دوم (یا نقاط شروع تصادفی) اضافه می‌شود و ue2 محاسبه می‌شود؛ تصمیم نهایی با مقایسه ue2 و آستانه میانی TM گرفته می‌شود. تأکید کنید که باند باریک یعنی فقط همان نمونه‌های مبهم هزینه‌ی مرحله دوم را می‌پردازند. در اجرای ما با باند ۵ تا ۱۰ حدود ۷ درصد نمونه‌ها وارد مرحله دوم شدند.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روش: برای هر پیش‌بینی، فاصله‌ی مرکزش تا میانگین مراکز چهار پیش‌بینی دیگر سنجیده می‌شود؛ دورترین حذف می‌شود و برای حذف چندتایی این کار تکراری انجام می‌شود — یعنی بعد از هر حذف، فاصله‌ها دوباره محاسبه می‌شوند. نتیجه: به‌طور میانگین ۴ تا ۸٫۵ واحد درصد بهبود؛ cross بیشترین سود را می‌برد و برای random یک حذف کافی است چون پرت دوم گاهی اطلاعات واقعی دارد. مهم: این فقط روی عدم قطعیت اثر می‌گذارد و مختصات خروجی تغییری نمی‌کند.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نکته‌ی کلیدی: مقایسه‌ی درست، ue در برابر ue2 روی همان نمونه‌های داخل باند است: از ۳۵٫۲ به ۶۴٫۸ یعنی ۲۹٫۶ واحد بهبود برای پلاس به‌اضافه کراس، و از ۴۸٫۵ به ۶۴٫۱ یعنی ۱۵٫۵ واحد برای تصادفی. یعنی در همان ناحیه‌ای که تصمیم پذیرش یا رد سخت‌ترین است، ue2 بعد از حذف پرت به‌مراتب بهتر از ue تشخیص می‌دهد.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هر سطر بهترین آستانه‌ی خودش را دارد. شش سطر اول: حذف یک یا دو نمونه پرت از پنج برش اصلی — همه بالای ۸۸٫۶. سطرهای هفتم و هشتم: پنج برش به‌اضافه چهار برش کراس با پوشش کامل؛ بدون حذف پرت ۸۱٫۶ و با حذف دو پرت ۹۱٫۲ — یعنی ۹٫۵ واحد بهبود. دو سطر آخر: همین الگو با برش تصادفی؛ بدون حذف ۸۱٫۶ و با حذف دو پرت ۸۸٫۲. ستون FP و FN نشان می‌دهد آستانه بهینه چگونه خطاها را بین پذیرش و رد تقسیم می‌کند.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جمع‌بندی در سه عدد: اول، حذف دو نمونه‌ی پرت تا ۸٫۵ واحد درصد بهبود می‌دهد. دوم، همین کار روی ue2 با پوشش کامل برش دوم ۹٫۵ واحد بهبود می‌دهد — از ۸۱٫۶ به ۹۱٫۲ — و برای برش تصادفی از ۸۱٫۶ به ۸۸٫۲ می‌رسد. سوم، بهترین ترکیب ما به ۹۰٫۲ می‌رسد که از بهترین الگوی برش مقاله (۸۸٫۱) بالاتر است. پیام آخر: هزینه‌ی این بهبود تقریباً صفر است چون فقط روی خروجی‌های از قبل محاسبه‌شده انجام 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zcode/slides_assets/fig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2A">
              <a:alpha val="8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0954512" y="502920"/>
            <a:ext cx="164592" cy="0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54512" y="502920"/>
            <a:ext cx="0" cy="164592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567160" y="502920"/>
            <a:ext cx="164592" cy="0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731752" y="502920"/>
            <a:ext cx="0" cy="164592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54512" y="1280160"/>
            <a:ext cx="164592" cy="0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54512" y="1115568"/>
            <a:ext cx="0" cy="164592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67160" y="1280160"/>
            <a:ext cx="164592" cy="0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31752" y="1115568"/>
            <a:ext cx="0" cy="164592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برش‌های ماهواره‌ای </a:t>
            </a:r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SatCTTA</a:t>
            </a:r>
            <a:pPr rtl="1"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و عدم قطعیت دوآستانه‌ای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109728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حذف نمونه‌های پرت و بهبود باند عدم قطعیت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97280" y="3931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9DB8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مجموعه‌داده </a:t>
            </a:r>
            <a:pPr algn="r" indent="0" marL="0">
              <a:buNone/>
            </a:pPr>
            <a:r>
              <a:rPr lang="en-US" sz="1500" dirty="0">
                <a:solidFill>
                  <a:srgbClr val="9DB8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Heydar-1746</a:t>
            </a:r>
            <a:pPr rtl="1" algn="r" indent="0" marL="0">
              <a:buNone/>
            </a:pPr>
            <a:r>
              <a:rPr lang="en-US" sz="1500" dirty="0">
                <a:solidFill>
                  <a:srgbClr val="9DB8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| ۱۷۸۲ نمونه | معیار </a:t>
            </a:r>
            <a:pPr algn="r" indent="0" marL="0">
              <a:buNone/>
            </a:pPr>
            <a:r>
              <a:rPr lang="en-US" sz="1500" dirty="0">
                <a:solidFill>
                  <a:srgbClr val="9DB8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WACC@7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7912" y="3840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شرح روش؛ برش مشاهده </a:t>
            </a:r>
            <a:pPr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(SatCTTA)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pic>
        <p:nvPicPr>
          <p:cNvPr id="11" name="Image 0" descr=".zcode/slides_assets/fig_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5029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79592" y="137160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برش‌ها از تصویر ماهواره‌ی بزرگ </a:t>
            </a:r>
            <a:pPr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1746×1746</a:t>
            </a:r>
            <a:pPr rtl="1"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گرفته می‌شوند، نه از تصویر حرارتی</a:t>
            </a:r>
            <a:endParaRPr lang="en-US" sz="16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تصویر: یک برش مرکزی </a:t>
            </a:r>
            <a:pPr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1536×1536</a:t>
            </a:r>
            <a:pPr rtl="1"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و چهار برش جابه‌جاشده</a:t>
            </a:r>
            <a:endParaRPr lang="en-US" sz="16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جابه‌جایی نیمه‌تصادفی در بازه‌ی </a:t>
            </a:r>
            <a:pPr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تا 105</a:t>
            </a:r>
            <a:pPr rtl="1"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پیکسل از مرکز</a:t>
            </a:r>
            <a:endParaRPr lang="en-US" sz="16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همه‌ی برش‌ها به ورودی </a:t>
            </a:r>
            <a:pPr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256×256</a:t>
            </a:r>
            <a:pPr rtl="1"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رزایز می‌شوند</a:t>
            </a:r>
            <a:endParaRPr lang="en-US" sz="16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چیدمان برش‌ها با </a:t>
            </a:r>
            <a:pPr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(ue_seed)</a:t>
            </a:r>
            <a:pPr rtl="1" indent="0" marL="0">
              <a:spcAft>
                <a:spcPts val="1000"/>
              </a:spcAft>
              <a:buNone/>
            </a:pPr>
            <a:r>
              <a:rPr lang="en-US" sz="16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ثابت و تکرارپذیر است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879592" y="4983480"/>
            <a:ext cx="5852160" cy="1143000"/>
          </a:xfrm>
          <a:prstGeom prst="roundRect">
            <a:avLst>
              <a:gd name="adj" fmla="val 6400"/>
            </a:avLst>
          </a:prstGeom>
          <a:solidFill>
            <a:srgbClr val="DDEAF0"/>
          </a:solidFill>
          <a:ln/>
        </p:spPr>
      </p:sp>
      <p:sp>
        <p:nvSpPr>
          <p:cNvPr id="14" name="Text 11"/>
          <p:cNvSpPr/>
          <p:nvPr/>
        </p:nvSpPr>
        <p:spPr>
          <a:xfrm>
            <a:off x="6108192" y="507492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عدم قطعیت </a:t>
            </a:r>
            <a:pPr algn="r" indent="0" marL="0">
              <a:buNone/>
            </a:pPr>
            <a:r>
              <a:rPr lang="en-US" sz="15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(ue)</a:t>
            </a:r>
            <a:pPr rtl="1" algn="r" indent="0" marL="0">
              <a:buNone/>
            </a:pPr>
            <a:r>
              <a:rPr lang="en-US" sz="15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انحراف معیار مکان ۵ پیش‌بینی؛ مبنای تصمیم پذیرش یا رد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044952" y="6355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پیاده‌سازی </a:t>
            </a:r>
            <a:pPr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SatCTTA</a:t>
            </a:r>
            <a:pPr rtl="1"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در همین پروژه؛ </a:t>
            </a:r>
            <a:pPr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ue_shift = 210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7912" y="3840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فرمول محاسبه‌ی عدم قطعیت </a:t>
            </a:r>
            <a:pPr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(ue)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برای </a:t>
            </a:r>
            <a:pPr algn="r" indent="0" marL="0">
              <a:buNone/>
            </a:pPr>
            <a:r>
              <a:rPr lang="en-US" sz="13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</a:t>
            </a:r>
            <a:pPr rtl="1" algn="r" indent="0" marL="0">
              <a:buNone/>
            </a:pPr>
            <a:r>
              <a:rPr lang="en-US" sz="13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برش، هر برش ۴ گوشه (</a:t>
            </a:r>
            <a:pPr algn="r" indent="0" marL="0">
              <a:buNone/>
            </a:pPr>
            <a:r>
              <a:rPr lang="en-US" sz="13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c=1..4</a:t>
            </a:r>
            <a:pPr rtl="1" algn="r" indent="0" marL="0">
              <a:buNone/>
            </a:pPr>
            <a:r>
              <a:rPr lang="en-US" sz="13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) را در قاب مشترک پیش‌بینی می‌کند؛ </a:t>
            </a:r>
            <a:pPr algn="r" indent="0" marL="0">
              <a:buNone/>
            </a:pPr>
            <a:r>
              <a:rPr lang="en-US" sz="13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</a:t>
            </a:r>
            <a:pPr rtl="1" algn="r" indent="0" marL="0">
              <a:buNone/>
            </a:pPr>
            <a:r>
              <a:rPr lang="en-US" sz="13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مجموعه‌ی باقی‌مانده و </a:t>
            </a:r>
            <a:pPr algn="r" indent="0" marL="0">
              <a:buNone/>
            </a:pPr>
            <a:r>
              <a:rPr lang="en-US" sz="13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</a:t>
            </a:r>
            <a:pPr rtl="1" algn="r" indent="0" marL="0">
              <a:buNone/>
            </a:pPr>
            <a:r>
              <a:rPr lang="en-US" sz="13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تعداد برش‌های دوم است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34072" y="1572768"/>
            <a:ext cx="4297680" cy="841248"/>
          </a:xfrm>
          <a:prstGeom prst="roundRect">
            <a:avLst>
              <a:gd name="adj" fmla="val 7609"/>
            </a:avLst>
          </a:prstGeom>
          <a:solidFill>
            <a:srgbClr val="DDEAF0"/>
          </a:solidFill>
          <a:ln/>
        </p:spPr>
      </p:sp>
      <p:sp>
        <p:nvSpPr>
          <p:cNvPr id="13" name="Text 11"/>
          <p:cNvSpPr/>
          <p:nvPr/>
        </p:nvSpPr>
        <p:spPr>
          <a:xfrm>
            <a:off x="10680192" y="157276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16952" y="1572768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میانگین هر مختصات روی </a:t>
            </a:r>
            <a:pPr algn="r" indent="0" marL="0">
              <a:buNone/>
            </a:pPr>
            <a:r>
              <a:rPr lang="en-US" sz="14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</a:t>
            </a:r>
            <a:pPr rtl="1" algn="r" indent="0" marL="0">
              <a:buNone/>
            </a:pPr>
            <a:r>
              <a:rPr lang="en-US" sz="14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برش</a:t>
            </a:r>
            <a:endParaRPr lang="en-US" sz="1450" dirty="0"/>
          </a:p>
        </p:txBody>
      </p:sp>
      <p:pic>
        <p:nvPicPr>
          <p:cNvPr id="15" name="Image 0" descr=".zcode/slides_assets/f_ue_m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636776"/>
            <a:ext cx="3108960" cy="71323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434072" y="2560320"/>
            <a:ext cx="4297680" cy="841248"/>
          </a:xfrm>
          <a:prstGeom prst="roundRect">
            <a:avLst>
              <a:gd name="adj" fmla="val 7609"/>
            </a:avLst>
          </a:prstGeom>
          <a:solidFill>
            <a:srgbClr val="DDEAF0"/>
          </a:solidFill>
          <a:ln/>
        </p:spPr>
      </p:sp>
      <p:sp>
        <p:nvSpPr>
          <p:cNvPr id="17" name="Text 14"/>
          <p:cNvSpPr/>
          <p:nvPr/>
        </p:nvSpPr>
        <p:spPr>
          <a:xfrm>
            <a:off x="10680192" y="256032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616952" y="256032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انحراف‌معیار نمونه‌ای هر مختصات</a:t>
            </a:r>
            <a:endParaRPr lang="en-US" sz="1450" dirty="0"/>
          </a:p>
        </p:txBody>
      </p:sp>
      <p:pic>
        <p:nvPicPr>
          <p:cNvPr id="19" name="Image 1" descr=".zcode/slides_assets/f_ue_s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87752"/>
            <a:ext cx="5852160" cy="78638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434072" y="3547872"/>
            <a:ext cx="4297680" cy="841248"/>
          </a:xfrm>
          <a:prstGeom prst="roundRect">
            <a:avLst>
              <a:gd name="adj" fmla="val 7609"/>
            </a:avLst>
          </a:prstGeom>
          <a:solidFill>
            <a:srgbClr val="E8590C"/>
          </a:solidFill>
          <a:ln/>
        </p:spPr>
      </p:sp>
      <p:sp>
        <p:nvSpPr>
          <p:cNvPr id="21" name="Text 17"/>
          <p:cNvSpPr/>
          <p:nvPr/>
        </p:nvSpPr>
        <p:spPr>
          <a:xfrm>
            <a:off x="10680192" y="354787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7616952" y="354787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میانگین روی ۸ مختصه </a:t>
            </a:r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=</a:t>
            </a:r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عدم قطعیت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31520" y="3511296"/>
            <a:ext cx="60350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9050">
            <a:solidFill>
              <a:srgbClr val="E8590C"/>
            </a:solidFill>
            <a:prstDash val="solid"/>
          </a:ln>
        </p:spPr>
      </p:sp>
      <p:pic>
        <p:nvPicPr>
          <p:cNvPr id="24" name="Image 2" descr=".zcode/slides_assets/f_ue_f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180" y="3561588"/>
            <a:ext cx="2331720" cy="813816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57200" y="4828032"/>
            <a:ext cx="11274552" cy="1325880"/>
          </a:xfrm>
          <a:prstGeom prst="roundRect">
            <a:avLst>
              <a:gd name="adj" fmla="val 4138"/>
            </a:avLst>
          </a:prstGeom>
          <a:solidFill>
            <a:srgbClr val="EEF3F6"/>
          </a:solidFill>
          <a:ln/>
        </p:spPr>
      </p:sp>
      <p:sp>
        <p:nvSpPr>
          <p:cNvPr id="26" name="Shape 21"/>
          <p:cNvSpPr/>
          <p:nvPr/>
        </p:nvSpPr>
        <p:spPr>
          <a:xfrm>
            <a:off x="5870448" y="5029200"/>
            <a:ext cx="0" cy="914400"/>
          </a:xfrm>
          <a:prstGeom prst="line">
            <a:avLst/>
          </a:prstGeom>
          <a:noFill/>
          <a:ln w="12700">
            <a:solidFill>
              <a:srgbClr val="CBD7D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490118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حذف پرت </a:t>
            </a:r>
            <a:pPr algn="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(LOO)</a:t>
            </a:r>
            <a:pPr rtl="1" algn="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دورترین مرکز حذف، </a:t>
            </a:r>
            <a:pPr algn="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</a:t>
            </a:r>
            <a:pPr rtl="1" algn="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بار تکرار روی </a:t>
            </a:r>
            <a:pPr algn="r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|S|=K-n</a:t>
            </a:r>
            <a:endParaRPr lang="en-US" sz="1200" dirty="0"/>
          </a:p>
        </p:txBody>
      </p:sp>
      <p:pic>
        <p:nvPicPr>
          <p:cNvPr id="28" name="Image 3" descr=".zcode/slides_assets/f_ue_lo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449824"/>
            <a:ext cx="4572000" cy="6583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172200" y="490118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ue2</a:t>
            </a:r>
            <a:pPr rtl="1" algn="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همان فرمول روی استخر ترکیبی؛ باقی‌مانده به‌علاوه‌ی </a:t>
            </a:r>
            <a:pPr algn="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</a:t>
            </a:r>
            <a:pPr rtl="1" algn="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برش دوم</a:t>
            </a:r>
            <a:endParaRPr lang="en-US" sz="1200" dirty="0"/>
          </a:p>
        </p:txBody>
      </p:sp>
      <p:pic>
        <p:nvPicPr>
          <p:cNvPr id="30" name="Image 4" descr=".zcode/slides_assets/f_ue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449824"/>
            <a:ext cx="4572000" cy="6583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044952" y="6355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مختصات در مقیاس مدل (۲۵۶)؛ ضرب در </a:t>
            </a:r>
            <a:pPr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= 1536/256</a:t>
            </a:r>
            <a:pPr rtl="1"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برای پیکسل تصویر اصلی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572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7912" y="3840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انواع برش‌های جدید و خواص آن‌ها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pic>
        <p:nvPicPr>
          <p:cNvPr id="11" name="Image 0" descr=".zcode/slides_assets/fig_patte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74920" cy="5074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25312" y="1371600"/>
            <a:ext cx="5806440" cy="786384"/>
          </a:xfrm>
          <a:prstGeom prst="roundRect">
            <a:avLst>
              <a:gd name="adj" fmla="val 6977"/>
            </a:avLst>
          </a:prstGeom>
          <a:solidFill>
            <a:srgbClr val="DDEAF0"/>
          </a:solidFill>
          <a:ln/>
        </p:spPr>
      </p:sp>
      <p:sp>
        <p:nvSpPr>
          <p:cNvPr id="13" name="Text 10"/>
          <p:cNvSpPr/>
          <p:nvPr/>
        </p:nvSpPr>
        <p:spPr>
          <a:xfrm>
            <a:off x="9582912" y="14447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plus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108192" y="14447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چهار جهت اصلی: بالا، چپ، پایین، راست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25312" y="2304288"/>
            <a:ext cx="5806440" cy="786384"/>
          </a:xfrm>
          <a:prstGeom prst="roundRect">
            <a:avLst>
              <a:gd name="adj" fmla="val 6977"/>
            </a:avLst>
          </a:prstGeom>
          <a:solidFill>
            <a:srgbClr val="DDEAF0"/>
          </a:solidFill>
          <a:ln/>
        </p:spPr>
      </p:sp>
      <p:sp>
        <p:nvSpPr>
          <p:cNvPr id="16" name="Text 13"/>
          <p:cNvSpPr/>
          <p:nvPr/>
        </p:nvSpPr>
        <p:spPr>
          <a:xfrm>
            <a:off x="9582912" y="2377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108192" y="23774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چهار قطری؛ پوشش گوشه‌های صحنه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25312" y="3236976"/>
            <a:ext cx="5806440" cy="786384"/>
          </a:xfrm>
          <a:prstGeom prst="roundRect">
            <a:avLst>
              <a:gd name="adj" fmla="val 6977"/>
            </a:avLst>
          </a:prstGeom>
          <a:solidFill>
            <a:srgbClr val="DDEAF0"/>
          </a:solidFill>
          <a:ln/>
        </p:spPr>
      </p:sp>
      <p:sp>
        <p:nvSpPr>
          <p:cNvPr id="19" name="Text 16"/>
          <p:cNvSpPr/>
          <p:nvPr/>
        </p:nvSpPr>
        <p:spPr>
          <a:xfrm>
            <a:off x="9582912" y="331012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random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108192" y="331012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نمونه‌گیری یکنواخت و بدون تکرار؛ بدون سوگیری جهت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925312" y="4169664"/>
            <a:ext cx="5806440" cy="786384"/>
          </a:xfrm>
          <a:prstGeom prst="roundRect">
            <a:avLst>
              <a:gd name="adj" fmla="val 6977"/>
            </a:avLst>
          </a:prstGeom>
          <a:solidFill>
            <a:srgbClr val="DDEAF0"/>
          </a:solidFill>
          <a:ln/>
        </p:spPr>
      </p:sp>
      <p:sp>
        <p:nvSpPr>
          <p:cNvPr id="22" name="Text 19"/>
          <p:cNvSpPr/>
          <p:nvPr/>
        </p:nvSpPr>
        <p:spPr>
          <a:xfrm>
            <a:off x="9582912" y="42428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plus_cross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6108192" y="424281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ترکیبی؛ با ۵ برش عملاً الگوی plus فعال می‌شود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925312" y="5102352"/>
            <a:ext cx="5806440" cy="786384"/>
          </a:xfrm>
          <a:prstGeom prst="roundRect">
            <a:avLst>
              <a:gd name="adj" fmla="val 6977"/>
            </a:avLst>
          </a:prstGeom>
          <a:solidFill>
            <a:srgbClr val="DDEAF0"/>
          </a:solidFill>
          <a:ln/>
        </p:spPr>
      </p:sp>
      <p:sp>
        <p:nvSpPr>
          <p:cNvPr id="25" name="Text 22"/>
          <p:cNvSpPr/>
          <p:nvPr/>
        </p:nvSpPr>
        <p:spPr>
          <a:xfrm>
            <a:off x="9582912" y="517550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grid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6108192" y="517550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شبکه‌ی منظم ۳×۳ بدون سلول مرکزی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72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7912" y="3840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مقایسه با برش‌های مقاله </a:t>
            </a:r>
            <a:pPr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(CropTTA)</a:t>
            </a:r>
            <a:pPr rtl="1"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حرارتی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457200" y="132588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7799832" y="16459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DDEAF0"/>
          </a:solidFill>
          <a:ln/>
        </p:spPr>
      </p:sp>
      <p:sp>
        <p:nvSpPr>
          <p:cNvPr id="13" name="Text 10"/>
          <p:cNvSpPr/>
          <p:nvPr/>
        </p:nvSpPr>
        <p:spPr>
          <a:xfrm>
            <a:off x="7799832" y="1828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‎+2.1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7799832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 درصد بهتر از بهترین الگوی مقاله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99832" y="39776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بدون حذف پرت حدود 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85.6</a:t>
            </a:r>
            <a:pPr rtl="1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؛ هم‌سطح برش‌های مقاله</a:t>
            </a:r>
            <a:endParaRPr lang="en-US" sz="150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 حذف پرت از مرز 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90</a:t>
            </a:r>
            <a:pPr rtl="1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عبور می‌کند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044952" y="6355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WACC@7</a:t>
            </a:r>
            <a:pPr rtl="1"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| آستانه خطای مرکز ۱۰۰ پیکسل | ۱۷۸۲ نمونه | بهترین تنظیم هر الگو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7912" y="3840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عدم قطعیت دوآستانه‌ای </a:t>
            </a:r>
            <a:pPr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(UASTHN-2)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05672" y="1783080"/>
            <a:ext cx="2926080" cy="960120"/>
          </a:xfrm>
          <a:prstGeom prst="roundRect">
            <a:avLst>
              <a:gd name="adj" fmla="val 6667"/>
            </a:avLst>
          </a:prstGeom>
          <a:solidFill>
            <a:srgbClr val="155E75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60536" y="178308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  (5 crops)</a:t>
            </a:r>
            <a:endParaRPr lang="en-US" sz="1400" dirty="0"/>
          </a:p>
          <a:p>
            <a:pPr rtl="1"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محاسبه‌ی مرحله اول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02752" y="2258568"/>
            <a:ext cx="502920" cy="0"/>
          </a:xfrm>
          <a:prstGeom prst="line">
            <a:avLst/>
          </a:prstGeom>
          <a:noFill/>
          <a:ln w="27940">
            <a:solidFill>
              <a:srgbClr val="5C6B76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5239512" y="118872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DDEAF0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94376" y="118872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 &lt; TL</a:t>
            </a:r>
            <a:endParaRPr lang="en-US" sz="1400" dirty="0"/>
          </a:p>
          <a:p>
            <a:pPr rtl="1" algn="ctr" indent="0" marL="0">
              <a:buNone/>
            </a:pPr>
            <a:r>
              <a:rPr lang="en-US" sz="13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پذیرش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39512" y="210312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DDEAF0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94376" y="210312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 &gt; TH</a:t>
            </a:r>
            <a:endParaRPr lang="en-US" sz="1400" dirty="0"/>
          </a:p>
          <a:p>
            <a:pPr rtl="1" algn="ctr" indent="0" marL="0">
              <a:buNone/>
            </a:pPr>
            <a:r>
              <a:rPr lang="en-US" sz="13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39512" y="301752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E8590C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94376" y="301752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TL ≤ ue ≤ TH</a:t>
            </a:r>
            <a:endParaRPr lang="en-US" sz="1400" dirty="0"/>
          </a:p>
          <a:p>
            <a:pPr rtl="1"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باند مشکوک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36592" y="3401568"/>
            <a:ext cx="502920" cy="0"/>
          </a:xfrm>
          <a:prstGeom prst="line">
            <a:avLst/>
          </a:prstGeom>
          <a:noFill/>
          <a:ln w="27940">
            <a:solidFill>
              <a:srgbClr val="5C6B76"/>
            </a:solidFill>
            <a:prstDash val="solid"/>
            <a:headEnd type="triangle"/>
          </a:ln>
        </p:spPr>
      </p:sp>
      <p:sp>
        <p:nvSpPr>
          <p:cNvPr id="21" name="Shape 19"/>
          <p:cNvSpPr/>
          <p:nvPr/>
        </p:nvSpPr>
        <p:spPr>
          <a:xfrm>
            <a:off x="2377440" y="301752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DDEAF0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50592" y="3017520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برش‌های دوم یا نقاط شروع تصادفی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74520" y="3401568"/>
            <a:ext cx="502920" cy="0"/>
          </a:xfrm>
          <a:prstGeom prst="line">
            <a:avLst/>
          </a:prstGeom>
          <a:noFill/>
          <a:ln w="27940">
            <a:solidFill>
              <a:srgbClr val="5C6B76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457200" y="3017520"/>
            <a:ext cx="1417320" cy="777240"/>
          </a:xfrm>
          <a:prstGeom prst="rect">
            <a:avLst/>
          </a:prstGeom>
          <a:solidFill>
            <a:srgbClr val="155E7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ue2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40880" y="4343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پذیرش نهایی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212080" y="434340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55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343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ue2 &lt; TM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291840" y="4343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رد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1463040" y="434340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55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4343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ue2 ≥ TM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148072" y="51206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منطق سه‌ناحیه‌ای: پذیرش قطعی، رد قطعی و باند مشکوک در میان</a:t>
            </a:r>
            <a:endParaRPr lang="en-US" sz="14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تنها نمونه‌های باند وارد مرحله دوم می‌شوند؛ هزینه کنترل‌شده</a:t>
            </a:r>
            <a:endParaRPr lang="en-US" sz="14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آزمایش ما باند 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5–10</a:t>
            </a:r>
            <a:pPr rt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؛ حدود ۷٪ نمونه‌ها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572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7912" y="3840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حذف نمونه‌های پرت با </a:t>
            </a:r>
            <a:pPr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Leave-One-Out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457200" y="132588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7159752" y="13716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LOO</a:t>
            </a:r>
            <a:pPr rt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فاصله‌ی مرکز هر پیش‌بینی تا میانگین مراکز بقیه</a:t>
            </a:r>
            <a:endParaRPr lang="en-US" sz="14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دورترین نمونه حذف؛ برای چند پرت به‌صورت تکراری</a:t>
            </a:r>
            <a:endParaRPr lang="en-US" sz="14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فقط روی محاسبه‌ی عدم قطعیت اثر دارد؛ پیش‌بینی نهایی دست‌نخورده</a:t>
            </a:r>
            <a:endParaRPr lang="en-US" sz="14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بهترین تعداد حذف: ۲ برای 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plus</a:t>
            </a:r>
            <a:pPr rt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و 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</a:t>
            </a:r>
            <a:pPr rt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؛ ۱ برای 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random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159752" y="397764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DDEAF0"/>
          </a:solidFill>
          <a:ln/>
        </p:spPr>
      </p:sp>
      <p:sp>
        <p:nvSpPr>
          <p:cNvPr id="14" name="Text 11"/>
          <p:cNvSpPr/>
          <p:nvPr/>
        </p:nvSpPr>
        <p:spPr>
          <a:xfrm>
            <a:off x="7159752" y="40690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‎+8.5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7159752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 درصد </a:t>
            </a:r>
            <a:pPr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WACC</a:t>
            </a:r>
            <a:pPr rtl="1"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؛ الگوی </a:t>
            </a:r>
            <a:pPr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</a:t>
            </a:r>
            <a:pPr rtl="1"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با حذف ۲ پرت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044952" y="6355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مقایسه‌ی هم‌مقیاس روی همان پیش‌بینی‌ها؛ </a:t>
            </a:r>
            <a:pPr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baseline</a:t>
            </a:r>
            <a:pPr rtl="1"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از همان ۵ برش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7912" y="3840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بهبود باند عدم قطعیت (۵ تا ۱۰)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457200" y="1325880"/>
          <a:ext cx="6309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885432" y="146304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DDEAF0"/>
          </a:solidFill>
          <a:ln/>
        </p:spPr>
      </p:sp>
      <p:sp>
        <p:nvSpPr>
          <p:cNvPr id="13" name="Text 10"/>
          <p:cNvSpPr/>
          <p:nvPr/>
        </p:nvSpPr>
        <p:spPr>
          <a:xfrm>
            <a:off x="6885432" y="157276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2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‎+29.6</a:t>
            </a:r>
            <a:endParaRPr lang="en-US" sz="6200" dirty="0"/>
          </a:p>
        </p:txBody>
      </p:sp>
      <p:sp>
        <p:nvSpPr>
          <p:cNvPr id="14" name="Text 11"/>
          <p:cNvSpPr/>
          <p:nvPr/>
        </p:nvSpPr>
        <p:spPr>
          <a:xfrm>
            <a:off x="6885432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 درصد </a:t>
            </a:r>
            <a:pPr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WACC</a:t>
            </a:r>
            <a:pPr rtl="1"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داخل باند برای </a:t>
            </a:r>
            <a:pPr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(Plus + 4cross)</a:t>
            </a:r>
            <a:pPr rtl="1" algn="ctr" indent="0" marL="0">
              <a:buNone/>
            </a:pPr>
            <a:r>
              <a:rPr lang="en-US" sz="140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روی همان ۱۲۵ نمونه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85432" y="36576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مقایسه‌ی منصفانه: هر دو معیار روی همان نمونه‌های داخل باند</a:t>
            </a:r>
            <a:endParaRPr lang="en-US" sz="14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ue2 فقط برای نمونه‌های داخل باند موجود است (۱۲۵ و ۱۰۳ نمونه)</a:t>
            </a:r>
            <a:endParaRPr lang="en-US" sz="1450" dirty="0"/>
          </a:p>
          <a:p>
            <a:pPr rtl="1" algn="r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 پوشش کامل برش دوم، ue2 به 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91.2</a:t>
            </a:r>
            <a:pPr rt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و 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88.2</a:t>
            </a:r>
            <a:pPr rt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524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می‌رسد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044952" y="6355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WACC@7</a:t>
            </a:r>
            <a:pPr rtl="1"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روی نمونه‌های داخل باند ۵ تا ۱۰؛ حذف ۲ پرت از کل مجموعه </a:t>
            </a:r>
            <a:pPr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7912" y="3840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55E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جدول نتایج؛ حذف پرت و آستانه‌های کالیبره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45720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7200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22960"/>
            <a:ext cx="164592" cy="0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658368"/>
            <a:ext cx="0" cy="164592"/>
          </a:xfrm>
          <a:prstGeom prst="line">
            <a:avLst/>
          </a:prstGeom>
          <a:noFill/>
          <a:ln w="27940">
            <a:solidFill>
              <a:srgbClr val="155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06070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WACC@7</a:t>
            </a:r>
            <a:pPr rtl="1" algn="r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روی ۱۷۸۲ نمونه؛ «all» یعنی پوشش کامل برش دوم؛ «-» یعنی بدون مقدار؛ آستانه‌ها در مقیاس </a:t>
            </a:r>
            <a:pPr algn="r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</a:t>
            </a:r>
            <a:pPr rtl="1" algn="r" indent="0" marL="0">
              <a:buNone/>
            </a:pPr>
            <a:r>
              <a:rPr lang="en-US" sz="125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(واحد مدل)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11256264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97280"/>
                <a:gridCol w="1188720"/>
                <a:gridCol w="1463040"/>
                <a:gridCol w="1097280"/>
                <a:gridCol w="1097280"/>
                <a:gridCol w="1097280"/>
                <a:gridCol w="138074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method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 crop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outlier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threshold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band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FP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wacc@7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plus5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86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90.1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plus5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2.0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146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90.2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cross5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6.0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160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88.7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cross5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118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90.2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rand5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4.0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163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89.7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rand5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136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89.2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plus+4cross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5+4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7.5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all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320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81.6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plus+4cross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5+4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6.5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all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91.2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rand+4rand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5+4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8.0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all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300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81.6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satcrop rand+4rand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5+4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4.5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all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dirty="0">
                          <a:solidFill>
                            <a:srgbClr val="1524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168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E75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88.2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044952" y="6355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منبع: کالیبراسیون آستانه روی خروجی اجراها؛ بهترین آستانه هر سطر مستقلاً بهینه‌شده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5352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جمع‌بندی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164592" cy="0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0" cy="164592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02920"/>
            <a:ext cx="164592" cy="0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502920"/>
            <a:ext cx="0" cy="164592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164592" cy="0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04088"/>
            <a:ext cx="0" cy="164592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68680"/>
            <a:ext cx="164592" cy="0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704088"/>
            <a:ext cx="0" cy="164592"/>
          </a:xfrm>
          <a:prstGeom prst="line">
            <a:avLst/>
          </a:prstGeom>
          <a:noFill/>
          <a:ln w="27940">
            <a:solidFill>
              <a:srgbClr val="7FD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7373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12324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659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‎+8.5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بهبود </a:t>
            </a:r>
            <a:pPr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WACC</a:t>
            </a:r>
            <a:pPr rtl="1"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با حذف ۲ نمونه‌ی پرت در الگوی </a:t>
            </a:r>
            <a:pPr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34840" y="17373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123243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9659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‎+9.5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بهبود </a:t>
            </a:r>
            <a:pPr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ue2</a:t>
            </a:r>
            <a:pPr rtl="1"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 روی کل داده با حذف ۲ پرت در الگوی </a:t>
            </a:r>
            <a:pPr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plus+4cross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75320" y="17373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123243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9659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90.2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503920" y="31089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بهترین </a:t>
            </a:r>
            <a:pPr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WACC</a:t>
            </a:r>
            <a:pPr rtl="1"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؛ بالاتر از بهترین برش مقاله با </a:t>
            </a:r>
            <a:pPr algn="ctr" indent="0" marL="0">
              <a:buNone/>
            </a:pPr>
            <a:r>
              <a:rPr lang="en-US" sz="1450" dirty="0">
                <a:solidFill>
                  <a:srgbClr val="CFE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88.1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97280" y="4892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حذف نمونه‌های پرت ارزان است و بیشترین سود را در همان ناحیه‌ای می‌دهد که تصمیم‌گیری سخت‌ترین است.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SatCTTA + Two-Threshold UE</dc:title>
  <dc:subject>PptxGenJS Presentation</dc:subject>
  <dc:creator>UASTHN</dc:creator>
  <cp:lastModifiedBy>UASTHN</cp:lastModifiedBy>
  <cp:revision>1</cp:revision>
  <dcterms:created xsi:type="dcterms:W3CDTF">2026-09-20T22:10:48Z</dcterms:created>
  <dcterms:modified xsi:type="dcterms:W3CDTF">2026-09-20T22:10:48Z</dcterms:modified>
</cp:coreProperties>
</file>